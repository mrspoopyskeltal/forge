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6" r:id="rId1"/>
  </p:sldMasterIdLst>
  <p:notesMasterIdLst>
    <p:notesMasterId r:id="rId3"/>
  </p:notesMasterIdLst>
  <p:sldIdLst>
    <p:sldId id="256" r:id="rId2"/>
  </p:sldIdLst>
  <p:sldSz cx="32918400" cy="43891200"/>
  <p:notesSz cx="43891200" cy="32918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C4CAA19-EC1C-1813-57BE-AB9A08687814}" v="8945" dt="2026-06-07T14:31:04.29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microsoft.com/office/2015/10/relationships/revisionInfo" Target="revisionInfo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11088 13075 16383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11762 15187 16383 0 0,'0'-12'0'0'0,"0"-4"0"0"0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12291 5715 16383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11521 5186 16383 0 0,'0'0'0'0'0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24438 7543 16383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23957 6774 16383 0 0,'0'0'0'0'0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23163 7880 16383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23163 7880 16383 0 0,'0'0'0'0'0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17944 7615 16383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12291 6798 16383 0 0,'0'0'0'0'0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12291 6798 16383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9381 5595 16383 0 0,'0'0'0'0'0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12411 4320 16383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9371 6004 16383 0 0,'0'0'0'0'0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13075 7158 16383 0 0,'0'0'0'0'0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28349 9828 16383 0 0,'0'0'0'0'0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27171 7207 16383 0 0,'0'0'0'0'0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21133 11166 16383 0 0,'0'-25'0'0'0,"0"-8"0"0"0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17424 9203 16383 0 0,'-12'0'0'0'0,"-5"0"0"0"0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7856 6677 16383 0 0,'0'0'0'0'0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7086 5090 16383 0 0,'0'0'0'0'0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18992 7375 16383 0 0,'0'0'0'0'0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</inkml:context>
    <inkml:brush xml:id="br0">
      <inkml:brushProperty name="width" value="0.1" units="cm"/>
      <inkml:brushProperty name="height" value="0.1" units="cm"/>
    </inkml:brush>
  </inkml:definitions>
  <inkml:trace contextRef="#ctx0" brushRef="#br0">27493 13460 16383 0 0,'0'0'0'0'0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19019838" cy="1651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4861838" y="0"/>
            <a:ext cx="19019837" cy="16510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E8376B3-9238-4426-94AC-ADA12F0A4BF7}" type="datetimeFigureOut">
              <a:t>6/7/2026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7780000" y="4114800"/>
            <a:ext cx="8331200" cy="111093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4389438" y="15841663"/>
            <a:ext cx="35112325" cy="129619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31268988"/>
            <a:ext cx="19019838" cy="164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4861838" y="31268988"/>
            <a:ext cx="19019837" cy="16494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C435CD2-B85D-4566-A19F-A62EDA22DB66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90058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64098" y="8778240"/>
            <a:ext cx="16025958" cy="17259942"/>
          </a:xfrm>
        </p:spPr>
        <p:txBody>
          <a:bodyPr anchor="t">
            <a:normAutofit/>
          </a:bodyPr>
          <a:lstStyle>
            <a:lvl1pPr algn="l">
              <a:defRPr sz="3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464098" y="29343229"/>
            <a:ext cx="16025958" cy="824247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350" b="1" cap="all" spc="225" baseline="0"/>
            </a:lvl1pPr>
            <a:lvl2pPr marL="342900" indent="0" algn="ctr">
              <a:buNone/>
              <a:defRPr sz="135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5D83F1-BF6E-4A98-8153-BAC9ABDE7CE3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57044295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3824" userDrawn="1">
          <p15:clr>
            <a:srgbClr val="FBAE40"/>
          </p15:clr>
        </p15:guide>
        <p15:guide id="2" pos="10368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576E92-E5C8-4FF8-B2BE-A516F6A1724E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3142131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098" y="10942323"/>
            <a:ext cx="24880187" cy="20223834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4097" y="32118832"/>
            <a:ext cx="21349113" cy="6872890"/>
          </a:xfrm>
        </p:spPr>
        <p:txBody>
          <a:bodyPr>
            <a:normAutofit/>
          </a:bodyPr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DDB232-C681-46A2-B21F-2BD21E9CA134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686037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2468880" y="18236969"/>
            <a:ext cx="13784580" cy="20547066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64940" y="18236966"/>
            <a:ext cx="13784580" cy="20547072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ABE26E-66F9-4E5F-9E07-CA7CDB200281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48401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096" y="8778237"/>
            <a:ext cx="28195452" cy="60144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4097" y="14792659"/>
            <a:ext cx="13729357" cy="4450381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spc="225" baseline="0"/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2464097" y="19243043"/>
            <a:ext cx="13729357" cy="203707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16664940" y="14792659"/>
            <a:ext cx="13994608" cy="4450381"/>
          </a:xfrm>
        </p:spPr>
        <p:txBody>
          <a:bodyPr anchor="b">
            <a:normAutofit/>
          </a:bodyPr>
          <a:lstStyle>
            <a:lvl1pPr marL="0" indent="0">
              <a:buNone/>
              <a:defRPr sz="1350" b="1" cap="all" spc="225" baseline="0"/>
            </a:lvl1pPr>
            <a:lvl2pPr marL="342900" indent="0">
              <a:buNone/>
              <a:defRPr sz="135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16664940" y="19243043"/>
            <a:ext cx="13994608" cy="20370797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1A01C-F286-49E7-998E-3D5BB613F99A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8034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CC2C0A-F771-42D9-AAB0-90C3A2B0FEAD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37269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A2A270-409D-4410-9649-B7481576446C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1310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097" y="9363443"/>
            <a:ext cx="10420372" cy="9417907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994608" y="6319523"/>
            <a:ext cx="16664940" cy="31191200"/>
          </a:xfrm>
        </p:spPr>
        <p:txBody>
          <a:bodyPr>
            <a:normAutofit/>
          </a:bodyPr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64097" y="18781354"/>
            <a:ext cx="10420372" cy="1878016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200AA3-798A-4433-8927-6E115914B6EF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61906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4097" y="9363443"/>
            <a:ext cx="10420372" cy="9417907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13994608" y="6319523"/>
            <a:ext cx="16664940" cy="31191200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464097" y="18781354"/>
            <a:ext cx="10420372" cy="18780166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322871-0F85-43DC-99D7-CA8E7437E2EC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356861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9BE5A2-57A1-4629-B29D-D386573AF9F3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05763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24834808" y="8967024"/>
            <a:ext cx="5820449" cy="30565536"/>
          </a:xfrm>
        </p:spPr>
        <p:txBody>
          <a:bodyPr vert="eaVert"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2263140" y="8967021"/>
            <a:ext cx="22226557" cy="30565542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3A72485-1B57-41B4-A998-97848CC136C2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830794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288941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468880" y="8778246"/>
            <a:ext cx="27980640" cy="760044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68877" y="16378695"/>
            <a:ext cx="27980640" cy="2164901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2464096" y="40680643"/>
            <a:ext cx="7406640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75" b="1" cap="all" spc="225" baseline="0">
                <a:solidFill>
                  <a:schemeClr val="tx1"/>
                </a:solidFill>
              </a:defRPr>
            </a:lvl1pPr>
          </a:lstStyle>
          <a:p>
            <a:fld id="{E857DF4D-D974-434D-9D64-40B7405DF5F0}" type="datetimeFigureOut">
              <a:rPr lang="en-US" dirty="0"/>
              <a:t>6/7/2026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8272581" y="40680643"/>
            <a:ext cx="10909007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cap="all" spc="225" baseline="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
              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29181586" y="40680643"/>
            <a:ext cx="1952138" cy="23368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75" b="1" cap="all" spc="225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dirty="0"/>
              <a:t>‹#›</a:t>
            </a:fld>
            <a:endParaRPr lang="en-US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209B62C-3402-4623-9A7C-AA048B56F8C3}"/>
              </a:ext>
            </a:extLst>
          </p:cNvPr>
          <p:cNvCxnSpPr>
            <a:cxnSpLocks/>
          </p:cNvCxnSpPr>
          <p:nvPr/>
        </p:nvCxnSpPr>
        <p:spPr>
          <a:xfrm>
            <a:off x="2674620" y="6598406"/>
            <a:ext cx="2642927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2946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  <p:sldLayoutId id="2147483680" r:id="rId4"/>
    <p:sldLayoutId id="2147483681" r:id="rId5"/>
    <p:sldLayoutId id="2147483682" r:id="rId6"/>
    <p:sldLayoutId id="2147483683" r:id="rId7"/>
    <p:sldLayoutId id="2147483684" r:id="rId8"/>
    <p:sldLayoutId id="2147483685" r:id="rId9"/>
    <p:sldLayoutId id="2147483686" r:id="rId10"/>
    <p:sldLayoutId id="2147483687" r:id="rId11"/>
    <p:sldLayoutId id="2147483688" r:id="rId12"/>
  </p:sldLayoutIdLst>
  <p:hf hdr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824" userDrawn="1">
          <p15:clr>
            <a:srgbClr val="F26B43"/>
          </p15:clr>
        </p15:guide>
        <p15:guide id="4" pos="10368" userDrawn="1">
          <p15:clr>
            <a:srgbClr val="F26B43"/>
          </p15:clr>
        </p15:guide>
        <p15:guide id="5" pos="1555" userDrawn="1">
          <p15:clr>
            <a:srgbClr val="F26B43"/>
          </p15:clr>
        </p15:guide>
        <p15:guide id="6" orient="horz" pos="553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.xml"/><Relationship Id="rId18" Type="http://schemas.openxmlformats.org/officeDocument/2006/relationships/customXml" Target="../ink/ink6.xml"/><Relationship Id="rId26" Type="http://schemas.openxmlformats.org/officeDocument/2006/relationships/customXml" Target="../ink/ink14.xml"/><Relationship Id="rId21" Type="http://schemas.openxmlformats.org/officeDocument/2006/relationships/customXml" Target="../ink/ink9.xml"/><Relationship Id="rId34" Type="http://schemas.openxmlformats.org/officeDocument/2006/relationships/customXml" Target="../ink/ink20.xml"/><Relationship Id="rId7" Type="http://schemas.openxmlformats.org/officeDocument/2006/relationships/image" Target="../media/image4.png"/><Relationship Id="rId12" Type="http://schemas.openxmlformats.org/officeDocument/2006/relationships/image" Target="../media/image8.png"/><Relationship Id="rId17" Type="http://schemas.openxmlformats.org/officeDocument/2006/relationships/customXml" Target="../ink/ink5.xml"/><Relationship Id="rId25" Type="http://schemas.openxmlformats.org/officeDocument/2006/relationships/customXml" Target="../ink/ink13.xml"/><Relationship Id="rId33" Type="http://schemas.openxmlformats.org/officeDocument/2006/relationships/image" Target="../media/image11.png"/><Relationship Id="rId38" Type="http://schemas.openxmlformats.org/officeDocument/2006/relationships/image" Target="../media/image12.png"/><Relationship Id="rId2" Type="http://schemas.openxmlformats.org/officeDocument/2006/relationships/notesSlide" Target="../notesSlides/notesSlide1.xml"/><Relationship Id="rId16" Type="http://schemas.openxmlformats.org/officeDocument/2006/relationships/customXml" Target="../ink/ink4.xml"/><Relationship Id="rId20" Type="http://schemas.openxmlformats.org/officeDocument/2006/relationships/customXml" Target="../ink/ink8.xml"/><Relationship Id="rId29" Type="http://schemas.openxmlformats.org/officeDocument/2006/relationships/customXml" Target="../ink/ink1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.png"/><Relationship Id="rId11" Type="http://schemas.openxmlformats.org/officeDocument/2006/relationships/customXml" Target="../ink/ink1.xml"/><Relationship Id="rId24" Type="http://schemas.openxmlformats.org/officeDocument/2006/relationships/customXml" Target="../ink/ink12.xml"/><Relationship Id="rId32" Type="http://schemas.openxmlformats.org/officeDocument/2006/relationships/customXml" Target="../ink/ink19.xml"/><Relationship Id="rId37" Type="http://schemas.openxmlformats.org/officeDocument/2006/relationships/customXml" Target="../ink/ink23.xml"/><Relationship Id="rId5" Type="http://schemas.openxmlformats.org/officeDocument/2006/relationships/image" Target="../media/image2.png"/><Relationship Id="rId15" Type="http://schemas.openxmlformats.org/officeDocument/2006/relationships/customXml" Target="../ink/ink3.xml"/><Relationship Id="rId23" Type="http://schemas.openxmlformats.org/officeDocument/2006/relationships/customXml" Target="../ink/ink11.xml"/><Relationship Id="rId28" Type="http://schemas.openxmlformats.org/officeDocument/2006/relationships/customXml" Target="../ink/ink16.xml"/><Relationship Id="rId36" Type="http://schemas.openxmlformats.org/officeDocument/2006/relationships/customXml" Target="../ink/ink22.xml"/><Relationship Id="rId10" Type="http://schemas.openxmlformats.org/officeDocument/2006/relationships/image" Target="../media/image7.png"/><Relationship Id="rId19" Type="http://schemas.openxmlformats.org/officeDocument/2006/relationships/customXml" Target="../ink/ink7.xml"/><Relationship Id="rId31" Type="http://schemas.openxmlformats.org/officeDocument/2006/relationships/image" Target="../media/image10.png"/><Relationship Id="rId4" Type="http://schemas.openxmlformats.org/officeDocument/2006/relationships/image" Target="../media/image1.jpeg"/><Relationship Id="rId9" Type="http://schemas.openxmlformats.org/officeDocument/2006/relationships/image" Target="../media/image6.png"/><Relationship Id="rId14" Type="http://schemas.openxmlformats.org/officeDocument/2006/relationships/image" Target="../media/image9.png"/><Relationship Id="rId22" Type="http://schemas.openxmlformats.org/officeDocument/2006/relationships/customXml" Target="../ink/ink10.xml"/><Relationship Id="rId27" Type="http://schemas.openxmlformats.org/officeDocument/2006/relationships/customXml" Target="../ink/ink15.xml"/><Relationship Id="rId30" Type="http://schemas.openxmlformats.org/officeDocument/2006/relationships/customXml" Target="../ink/ink18.xml"/><Relationship Id="rId35" Type="http://schemas.openxmlformats.org/officeDocument/2006/relationships/customXml" Target="../ink/ink21.xml"/><Relationship Id="rId8" Type="http://schemas.openxmlformats.org/officeDocument/2006/relationships/image" Target="../media/image5.png"/><Relationship Id="rId3" Type="http://schemas.openxmlformats.org/officeDocument/2006/relationships/hyperlink" Target="mailto:YMorozov@my.gcu.edu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571083"/>
            <a:ext cx="3333404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400" b="1" i="1" dirty="0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FORGE</a:t>
            </a:r>
            <a:endParaRPr lang="en-US" sz="5400" i="1" dirty="0">
              <a:latin typeface="Times New Roman"/>
              <a:cs typeface="Times New Roman"/>
            </a:endParaRPr>
          </a:p>
        </p:txBody>
      </p:sp>
      <p:sp>
        <p:nvSpPr>
          <p:cNvPr id="3" name="Text 1"/>
          <p:cNvSpPr/>
          <p:nvPr/>
        </p:nvSpPr>
        <p:spPr>
          <a:xfrm>
            <a:off x="685800" y="2375778"/>
            <a:ext cx="19385280" cy="876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800" i="1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Local-First Fitness Tracking Application</a:t>
            </a:r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4" name="Text 2"/>
          <p:cNvSpPr/>
          <p:nvPr/>
        </p:nvSpPr>
        <p:spPr>
          <a:xfrm>
            <a:off x="685800" y="2104783"/>
            <a:ext cx="21031200" cy="5985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r>
              <a:rPr lang="en-US" sz="320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Yaroslav Morozov – </a:t>
            </a:r>
            <a:r>
              <a:rPr lang="en-US" sz="3200" dirty="0">
                <a:latin typeface="Times New Roman"/>
                <a:ea typeface="Arial" pitchFamily="34" charset="-122"/>
                <a:cs typeface="Times New Roman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YMorozov@my.gcu.edu</a:t>
            </a:r>
            <a:r>
              <a:rPr lang="en-US" sz="320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 | Grand Canyon University | CST-452 Technology Showcase Poster </a:t>
            </a:r>
            <a:endParaRPr lang="en-US" sz="3200" dirty="0">
              <a:latin typeface="Times New Roman"/>
              <a:cs typeface="Times New Roman"/>
            </a:endParaRPr>
          </a:p>
        </p:txBody>
      </p:sp>
      <p:sp>
        <p:nvSpPr>
          <p:cNvPr id="5" name="Text 3"/>
          <p:cNvSpPr/>
          <p:nvPr/>
        </p:nvSpPr>
        <p:spPr>
          <a:xfrm>
            <a:off x="685800" y="2880360"/>
            <a:ext cx="21991320" cy="7315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A focused desktop tool for fitness profile setup, target calculation, workout logging, and progress review.</a:t>
            </a:r>
            <a:endParaRPr lang="en-US" sz="2800" dirty="0">
              <a:latin typeface="Times New Roman"/>
              <a:cs typeface="Times New Roman"/>
            </a:endParaRPr>
          </a:p>
        </p:txBody>
      </p:sp>
      <p:sp>
        <p:nvSpPr>
          <p:cNvPr id="7" name="Shape 5"/>
          <p:cNvSpPr/>
          <p:nvPr/>
        </p:nvSpPr>
        <p:spPr>
          <a:xfrm>
            <a:off x="685800" y="3886200"/>
            <a:ext cx="31546800" cy="109728"/>
          </a:xfrm>
          <a:prstGeom prst="rect">
            <a:avLst/>
          </a:prstGeom>
          <a:solidFill>
            <a:srgbClr val="522398"/>
          </a:solidFill>
          <a:ln w="12700">
            <a:solidFill>
              <a:srgbClr val="52239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4617720"/>
            <a:ext cx="10835640" cy="8595360"/>
          </a:xfrm>
          <a:prstGeom prst="rect">
            <a:avLst/>
          </a:prstGeom>
          <a:solidFill>
            <a:srgbClr val="FFFFFF"/>
          </a:solidFill>
          <a:ln w="15240">
            <a:noFill/>
          </a:ln>
        </p:spPr>
        <p:txBody>
          <a:bodyPr wrap="square" lIns="3556" tIns="3556" rIns="3556" bIns="3556" rtlCol="0" anchor="t">
            <a:normAutofit/>
          </a:bodyPr>
          <a:lstStyle/>
          <a:p>
            <a:r>
              <a:rPr lang="en-US" sz="3600" b="1" u="sng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1. Project Description</a:t>
            </a:r>
            <a:endParaRPr lang="en-US" sz="3600" u="sng">
              <a:solidFill>
                <a:srgbClr val="000000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32105B"/>
                </a:solidFill>
                <a:latin typeface="Arial"/>
                <a:ea typeface="Arial" pitchFamily="34" charset="-122"/>
                <a:cs typeface="Arial"/>
              </a:rPr>
              <a:t>
</a:t>
            </a:r>
            <a:r>
              <a:rPr lang="en-US" sz="360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Forge is a local-first desktop fitness application designed to keep personal fitness planning simple and useful.</a:t>
            </a: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endParaRPr lang="en-US" sz="3600">
              <a:latin typeface="Times New Roman"/>
              <a:cs typeface="Times New Roman"/>
            </a:endParaRPr>
          </a:p>
          <a:p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Users create a profile and calculate baseline targets.
</a:t>
            </a:r>
            <a:endParaRPr lang="en-US" sz="3600">
              <a:latin typeface="Times New Roman"/>
              <a:cs typeface="Times New Roman"/>
            </a:endParaRPr>
          </a:p>
          <a:p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Workout sessions are logged with enough detail to review progress over time.
</a:t>
            </a:r>
            <a:endParaRPr lang="en-US" sz="3600">
              <a:latin typeface="Times New Roman"/>
              <a:cs typeface="Times New Roman"/>
            </a:endParaRPr>
          </a:p>
          <a:p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The workflow is intentionally narrow: plan, log, review, </a:t>
            </a:r>
            <a:r>
              <a:rPr lang="en-US" sz="360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and adjust.</a:t>
            </a:r>
            <a:endParaRPr lang="en-US" sz="24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r>
              <a:rPr lang="en-US" sz="3600" i="1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The project avoids cloud accounts, ads, and social features </a:t>
            </a:r>
            <a:r>
              <a:rPr lang="en-US" sz="3600" i="1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so the user can focus on training data instead of app noise</a:t>
            </a:r>
            <a:r>
              <a:rPr lang="en-US" sz="1600" i="1" dirty="0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.
</a:t>
            </a:r>
            <a:endParaRPr lang="en-US" sz="2400" i="1">
              <a:latin typeface="Arial"/>
              <a:cs typeface="Arial"/>
            </a:endParaRPr>
          </a:p>
        </p:txBody>
      </p:sp>
      <p:sp>
        <p:nvSpPr>
          <p:cNvPr id="9" name="Text 7"/>
          <p:cNvSpPr/>
          <p:nvPr/>
        </p:nvSpPr>
        <p:spPr>
          <a:xfrm>
            <a:off x="11932920" y="4617720"/>
            <a:ext cx="10835640" cy="8595360"/>
          </a:xfrm>
          <a:prstGeom prst="rect">
            <a:avLst/>
          </a:prstGeom>
          <a:solidFill>
            <a:srgbClr val="FFFFFF"/>
          </a:solidFill>
          <a:ln w="15240">
            <a:noFill/>
          </a:ln>
        </p:spPr>
        <p:txBody>
          <a:bodyPr wrap="square" lIns="3556" tIns="3556" rIns="3556" bIns="3556" rtlCol="0" anchor="t">
            <a:normAutofit/>
          </a:bodyPr>
          <a:lstStyle/>
          <a:p>
            <a:pPr marL="0" indent="0">
              <a:buNone/>
            </a:pPr>
            <a:r>
              <a:rPr lang="en-US" sz="3600" b="1" u="sng" dirty="0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2. Project Justification</a:t>
            </a:r>
            <a:r>
              <a:rPr lang="en-US" sz="2400" b="1" dirty="0">
                <a:solidFill>
                  <a:srgbClr val="32105B"/>
                </a:solidFill>
                <a:latin typeface="Arial"/>
                <a:ea typeface="Arial" pitchFamily="34" charset="-122"/>
                <a:cs typeface="Arial"/>
              </a:rPr>
              <a:t>
</a:t>
            </a: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Many fitness apps become bloated with subscriptions, feeds, and features that do not help the user make the next training decision.
</a:t>
            </a:r>
            <a:endParaRPr lang="en-US" sz="3600">
              <a:latin typeface="Times New Roman"/>
              <a:cs typeface="Times New Roman"/>
            </a:endParaRPr>
          </a:p>
          <a:p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Local data storage supports privacy and offline use.
</a:t>
            </a:r>
            <a:endParaRPr lang="en-US" sz="3600">
              <a:latin typeface="Times New Roman"/>
              <a:cs typeface="Times New Roman"/>
            </a:endParaRPr>
          </a:p>
          <a:p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Simple navigation reduces friction for repeated logging.
</a:t>
            </a:r>
            <a:endParaRPr lang="en-US" sz="3600">
              <a:latin typeface="Times New Roman"/>
              <a:cs typeface="Times New Roman"/>
            </a:endParaRPr>
          </a:p>
          <a:p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Progress review supports progressive overload and better </a:t>
            </a:r>
            <a:r>
              <a:rPr lang="en-US" sz="360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training consistency.</a:t>
            </a:r>
            <a:endParaRPr lang="en-US" sz="240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</a:p>
          <a:p>
            <a:r>
              <a:rPr lang="en-US" sz="3600" i="1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Forge was built as a practical, focused tool rather than a </a:t>
            </a:r>
            <a:r>
              <a:rPr lang="en-US" sz="3600" i="1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large social fitness platform.</a:t>
            </a:r>
            <a:r>
              <a:rPr lang="en-US" sz="1600" i="1" dirty="0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
</a:t>
            </a:r>
            <a:endParaRPr lang="en-US" sz="2400">
              <a:latin typeface="Arial"/>
              <a:cs typeface="Arial"/>
            </a:endParaRPr>
          </a:p>
        </p:txBody>
      </p:sp>
      <p:sp>
        <p:nvSpPr>
          <p:cNvPr id="11" name="Text 9"/>
          <p:cNvSpPr/>
          <p:nvPr/>
        </p:nvSpPr>
        <p:spPr>
          <a:xfrm>
            <a:off x="685800" y="25923240"/>
            <a:ext cx="10835640" cy="14630400"/>
          </a:xfrm>
          <a:prstGeom prst="rect">
            <a:avLst/>
          </a:prstGeom>
          <a:solidFill>
            <a:srgbClr val="FFFFFF"/>
          </a:solidFill>
          <a:ln w="15240">
            <a:noFill/>
          </a:ln>
        </p:spPr>
        <p:txBody>
          <a:bodyPr wrap="square" lIns="3556" tIns="3556" rIns="3556" bIns="3556" rtlCol="0" anchor="t">
            <a:normAutofit/>
          </a:bodyPr>
          <a:lstStyle/>
          <a:p>
            <a:r>
              <a:rPr lang="en-US" sz="3600" b="1" u="sng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4. Design Process Overview</a:t>
            </a:r>
            <a:endParaRPr lang="en-US" sz="3200" u="sng">
              <a:solidFill>
                <a:srgbClr val="000000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r>
              <a:rPr lang="en-US" sz="2400" b="1" dirty="0">
                <a:solidFill>
                  <a:srgbClr val="32105B"/>
                </a:solidFill>
                <a:latin typeface="Arial"/>
                <a:ea typeface="Arial" pitchFamily="34" charset="-122"/>
                <a:cs typeface="Arial"/>
              </a:rPr>
              <a:t>
</a:t>
            </a:r>
            <a:r>
              <a:rPr lang="en-US" sz="360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The project followed an iterative process that moved from scope definition to implementation, then into testing and polish.</a:t>
            </a: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endParaRPr lang="en-US" sz="360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Defined the core user problem and limited scope to profile, calculations, logging, and review.
</a:t>
            </a:r>
            <a:endParaRPr lang="en-US" sz="360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Mapped the main user flow before implementation: profile setup -&gt; dashboard -&gt; workout log -&gt; history.
</a:t>
            </a:r>
            <a:endParaRPr lang="en-US" sz="360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Separated responsibilities across UI, calculation logic, data models, and storage.
</a:t>
            </a:r>
            <a:endParaRPr lang="en-US" sz="360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Built core features first, then refined validation, navigation, and data handling.
</a:t>
            </a:r>
            <a:endParaRPr lang="en-US" sz="360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Reviewed the final application from both a technical </a:t>
            </a:r>
            <a:r>
              <a:rPr lang="en-US" sz="360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and user perspective.</a:t>
            </a:r>
            <a:endParaRPr lang="en-US" sz="2400" dirty="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endParaRPr lang="en-US" sz="3600" i="1" dirty="0">
              <a:solidFill>
                <a:srgbClr val="333333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r>
              <a:rPr lang="en-US" sz="1600" i="1" dirty="0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
</a:t>
            </a:r>
            <a:endParaRPr lang="en-US" sz="2400">
              <a:latin typeface="Arial"/>
              <a:cs typeface="Arial"/>
            </a:endParaRPr>
          </a:p>
        </p:txBody>
      </p:sp>
      <p:sp>
        <p:nvSpPr>
          <p:cNvPr id="12" name="Text 10"/>
          <p:cNvSpPr/>
          <p:nvPr/>
        </p:nvSpPr>
        <p:spPr>
          <a:xfrm>
            <a:off x="11995265" y="25923240"/>
            <a:ext cx="10835640" cy="14630400"/>
          </a:xfrm>
          <a:prstGeom prst="rect">
            <a:avLst/>
          </a:prstGeom>
          <a:solidFill>
            <a:srgbClr val="FFFFFF"/>
          </a:solidFill>
          <a:ln w="15240">
            <a:noFill/>
          </a:ln>
        </p:spPr>
        <p:txBody>
          <a:bodyPr wrap="square" lIns="3556" tIns="3556" rIns="3556" bIns="3556" rtlCol="0" anchor="t">
            <a:normAutofit/>
          </a:bodyPr>
          <a:lstStyle/>
          <a:p>
            <a:r>
              <a:rPr lang="en-US" sz="3600" b="1" u="sng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5. Relevant Data Summaries</a:t>
            </a:r>
            <a:endParaRPr lang="en-US" sz="3600" u="sng">
              <a:solidFill>
                <a:srgbClr val="000000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endParaRPr lang="en-US" sz="2400" b="1" dirty="0">
              <a:solidFill>
                <a:srgbClr val="32105B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r>
              <a:rPr lang="en-US" sz="3200" b="1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User / Profile Data</a:t>
            </a:r>
            <a:r>
              <a:rPr lang="en-US" sz="1800" b="1" dirty="0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r>
              <a:rPr lang="en-US" sz="360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Height, weight, age, biological sex, activity level, and goal.</a:t>
            </a:r>
            <a:endParaRPr lang="en-US" sz="3600">
              <a:solidFill>
                <a:srgbClr val="000000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endParaRPr lang="en-US" sz="1700" dirty="0">
              <a:solidFill>
                <a:srgbClr val="333333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endParaRPr lang="en-US" sz="1700" dirty="0">
              <a:solidFill>
                <a:srgbClr val="333333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r>
              <a:rPr lang="en-US" sz="17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r>
              <a:rPr lang="en-US" sz="3200" b="1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Calculated Fitness Metrics</a:t>
            </a:r>
            <a:r>
              <a:rPr lang="en-US" sz="1800" b="1" dirty="0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r>
              <a:rPr lang="en-US" sz="360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BMI, BMR, TDEE, calorie target, and macro targets.</a:t>
            </a:r>
            <a:r>
              <a:rPr lang="en-US" sz="17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endParaRPr lang="en-US" sz="3600">
              <a:solidFill>
                <a:srgbClr val="333333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endParaRPr lang="en-US" sz="1700" dirty="0">
              <a:solidFill>
                <a:srgbClr val="333333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r>
              <a:rPr lang="en-US" sz="3200" b="1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Workout Data</a:t>
            </a:r>
            <a:r>
              <a:rPr lang="en-US" sz="1800" b="1" dirty="0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r>
              <a:rPr lang="en-US" sz="360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Exercise, sets, reps, weight, RPE, timestamp, and history </a:t>
            </a:r>
          </a:p>
          <a:p>
            <a:r>
              <a:rPr lang="en-US" sz="360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entries.</a:t>
            </a:r>
            <a:r>
              <a:rPr lang="en-US" sz="17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endParaRPr lang="en-US" sz="3600">
              <a:solidFill>
                <a:srgbClr val="333333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endParaRPr lang="en-US" sz="1700" dirty="0">
              <a:solidFill>
                <a:srgbClr val="333333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r>
              <a:rPr lang="en-US" sz="3200" b="1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Testing Summary</a:t>
            </a:r>
            <a:r>
              <a:rPr lang="en-US" sz="1800" b="1" dirty="0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r>
              <a:rPr lang="en-US" sz="360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Core user stories verified through manual system testing.</a:t>
            </a: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
Calculation outputs checked against expected formulas.</a:t>
            </a:r>
            <a:r>
              <a:rPr lang="en-US" sz="3600" dirty="0">
                <a:solidFill>
                  <a:srgbClr val="333333"/>
                </a:solidFill>
                <a:latin typeface="Arial"/>
                <a:ea typeface="Arial" pitchFamily="34" charset="-122"/>
                <a:cs typeface="Arial"/>
              </a:rPr>
              <a:t>
</a:t>
            </a: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Profile save/load and workout history reviewed through integration-style testing.</a:t>
            </a:r>
            <a:endParaRPr lang="en-US" sz="2400" dirty="0">
              <a:solidFill>
                <a:srgbClr val="000000"/>
              </a:solidFill>
              <a:latin typeface="Arial"/>
              <a:ea typeface="Arial" pitchFamily="34" charset="-122"/>
              <a:cs typeface="Arial"/>
            </a:endParaRPr>
          </a:p>
          <a:p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r>
              <a:rPr lang="en-US" sz="1500" i="1" dirty="0">
                <a:solidFill>
                  <a:srgbClr val="666666"/>
                </a:solidFill>
                <a:latin typeface="Arial"/>
                <a:ea typeface="Arial" pitchFamily="34" charset="-122"/>
                <a:cs typeface="Arial"/>
              </a:rPr>
              <a:t>
</a:t>
            </a:r>
            <a:endParaRPr lang="en-US" sz="2400">
              <a:latin typeface="Arial"/>
              <a:cs typeface="Arial"/>
            </a:endParaRPr>
          </a:p>
        </p:txBody>
      </p:sp>
      <p:sp>
        <p:nvSpPr>
          <p:cNvPr id="13" name="Text 11"/>
          <p:cNvSpPr/>
          <p:nvPr/>
        </p:nvSpPr>
        <p:spPr>
          <a:xfrm>
            <a:off x="23362920" y="4056612"/>
            <a:ext cx="8886305" cy="14671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>
                <a:solidFill>
                  <a:srgbClr val="32105B"/>
                </a:solidFill>
                <a:latin typeface="Arial"/>
                <a:ea typeface="Arial" pitchFamily="34" charset="-122"/>
                <a:cs typeface="Arial"/>
              </a:rPr>
              <a:t>Screenshot / Visual Evidence 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23362920" y="5257800"/>
            <a:ext cx="8823960" cy="5486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endParaRPr lang="en-US" sz="1350" i="1" dirty="0">
              <a:solidFill>
                <a:srgbClr val="666666"/>
              </a:solidFill>
              <a:latin typeface="Arial"/>
              <a:cs typeface="Arial"/>
            </a:endParaRPr>
          </a:p>
        </p:txBody>
      </p:sp>
      <p:sp>
        <p:nvSpPr>
          <p:cNvPr id="20" name="Text 18"/>
          <p:cNvSpPr/>
          <p:nvPr/>
        </p:nvSpPr>
        <p:spPr>
          <a:xfrm>
            <a:off x="685800" y="42153840"/>
            <a:ext cx="31546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1250" i="1" dirty="0">
              <a:solidFill>
                <a:srgbClr val="777777"/>
              </a:solidFill>
              <a:latin typeface="Arial"/>
              <a:cs typeface="Arial"/>
            </a:endParaRPr>
          </a:p>
        </p:txBody>
      </p:sp>
      <p:pic>
        <p:nvPicPr>
          <p:cNvPr id="19" name="Picture 18" descr="A blue and white anvil&#10;&#10;AI-generated content may be incorrect.">
            <a:extLst>
              <a:ext uri="{FF2B5EF4-FFF2-40B4-BE49-F238E27FC236}">
                <a16:creationId xmlns:a16="http://schemas.microsoft.com/office/drawing/2014/main" id="{3C7C7A28-408A-9A8E-99A6-AD84797001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-152015" t="13178864" r="225806" b="-13115896"/>
          <a:stretch>
            <a:fillRect/>
          </a:stretch>
        </p:blipFill>
        <p:spPr>
          <a:xfrm>
            <a:off x="3197504" y="-143089"/>
            <a:ext cx="637871" cy="692227"/>
          </a:xfrm>
          <a:prstGeom prst="rect">
            <a:avLst/>
          </a:prstGeom>
        </p:spPr>
      </p:pic>
      <p:pic>
        <p:nvPicPr>
          <p:cNvPr id="22" name="Picture 21" descr="A purple logo with a deer&#10;&#10;AI-generated content may be incorrect.">
            <a:extLst>
              <a:ext uri="{FF2B5EF4-FFF2-40B4-BE49-F238E27FC236}">
                <a16:creationId xmlns:a16="http://schemas.microsoft.com/office/drawing/2014/main" id="{B2721FE9-81A8-92BE-2344-DC705418C8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793824" y="275360"/>
            <a:ext cx="5391150" cy="33147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Text 8"/>
          <p:cNvSpPr/>
          <p:nvPr/>
        </p:nvSpPr>
        <p:spPr>
          <a:xfrm>
            <a:off x="685800" y="13711845"/>
            <a:ext cx="22082760" cy="12211395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3556" tIns="3556" rIns="3556" bIns="3556" rtlCol="0" anchor="t">
            <a:normAutofit lnSpcReduction="10000"/>
          </a:bodyPr>
          <a:lstStyle/>
          <a:p>
            <a:r>
              <a:rPr lang="en-US" sz="3600" b="1" u="sng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3. Functional Requirements, Product Specifications, and Standards</a:t>
            </a:r>
            <a:endParaRPr lang="en-US" sz="2400" u="sng">
              <a:solidFill>
                <a:srgbClr val="000000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pPr marL="0" indent="0">
              <a:buNone/>
            </a:pPr>
            <a:r>
              <a:rPr lang="en-US" sz="2400" b="1" dirty="0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r>
              <a:rPr lang="en-US" sz="3200" b="1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Functional Requirements</a:t>
            </a:r>
            <a:r>
              <a:rPr lang="en-US" sz="1800" b="1" dirty="0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endParaRPr lang="en-US" sz="240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Create and edit a user fitness profile.
</a:t>
            </a:r>
            <a:endParaRPr lang="en-US" sz="360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Calculate BMI, BMR, TDEE, calorie targets, and macro targets from user inputs.
</a:t>
            </a:r>
            <a:endParaRPr lang="en-US" sz="360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Log workouts with exercise name, sets, reps, weight, RPE, and timestamp.
</a:t>
            </a:r>
            <a:endParaRPr lang="en-US" sz="360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Display workout history and compare recent entries to support progress decisions.
</a:t>
            </a:r>
            <a:endParaRPr lang="en-US" sz="360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Validate inputs and provide clear error messages.</a:t>
            </a:r>
            <a:endParaRPr lang="en-US" sz="3600">
              <a:solidFill>
                <a:srgbClr val="000000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 
</a:t>
            </a:r>
            <a:r>
              <a:rPr lang="en-US" sz="3200" b="1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Product Specifications / Standards</a:t>
            </a:r>
            <a:r>
              <a:rPr lang="en-US" sz="3600" b="1" dirty="0">
                <a:solidFill>
                  <a:srgbClr val="32105B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endParaRPr lang="en-US" sz="360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Python desktop application with a </a:t>
            </a:r>
            <a:r>
              <a:rPr lang="en-US" sz="3600" dirty="0" err="1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Tkinter</a:t>
            </a: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 graphical user interface.
</a:t>
            </a:r>
            <a:endParaRPr lang="en-US" sz="360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Local JSON persistence for profile and workout data.
</a:t>
            </a:r>
            <a:endParaRPr lang="en-US" sz="360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Modular code organization for maintainability, testing, and future expansion.
</a:t>
            </a:r>
            <a:endParaRPr lang="en-US" sz="3600">
              <a:latin typeface="Times New Roman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360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Local-first privacy, reliable save/load behavior, and clear user flow.</a:t>
            </a:r>
            <a:endParaRPr lang="en-US" sz="2400">
              <a:solidFill>
                <a:srgbClr val="000000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endParaRPr lang="en-US" sz="1700" dirty="0">
              <a:solidFill>
                <a:srgbClr val="333333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endParaRPr lang="en-US" sz="1700" dirty="0">
              <a:solidFill>
                <a:srgbClr val="333333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endParaRPr lang="en-US" sz="1700" dirty="0">
              <a:solidFill>
                <a:srgbClr val="333333"/>
              </a:solidFill>
              <a:latin typeface="Times New Roman"/>
              <a:ea typeface="Arial" pitchFamily="34" charset="-122"/>
              <a:cs typeface="Times New Roman"/>
            </a:endParaRPr>
          </a:p>
          <a:p>
            <a:pPr marL="571500" indent="-571500">
              <a:buFont typeface="Arial"/>
              <a:buChar char="•"/>
            </a:pPr>
            <a:r>
              <a:rPr lang="en-US" sz="1700" dirty="0">
                <a:solidFill>
                  <a:srgbClr val="333333"/>
                </a:solidFill>
                <a:latin typeface="Times New Roman"/>
                <a:ea typeface="Arial" pitchFamily="34" charset="-122"/>
                <a:cs typeface="Times New Roman"/>
              </a:rPr>
              <a:t>
</a:t>
            </a:r>
            <a:endParaRPr lang="en-US" sz="2400">
              <a:latin typeface="Times New Roman"/>
              <a:cs typeface="Times New Roman"/>
            </a:endParaRPr>
          </a:p>
        </p:txBody>
      </p:sp>
      <p:pic>
        <p:nvPicPr>
          <p:cNvPr id="6" name="Picture 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C8AEC558-B77F-B32F-7927-2B7811BAC2EB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3214589" y="5227926"/>
            <a:ext cx="9058275" cy="7000875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23" name="Picture 22" descr="A screenshot of a computer&#10;&#10;AI-generated content may be incorrect.">
            <a:extLst>
              <a:ext uri="{FF2B5EF4-FFF2-40B4-BE49-F238E27FC236}">
                <a16:creationId xmlns:a16="http://schemas.microsoft.com/office/drawing/2014/main" id="{588FD213-2AD7-8F8A-4178-73E48450480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166532" y="12229666"/>
            <a:ext cx="9029700" cy="6962775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24" name="Picture 23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87D0A1CD-4A7A-DE52-649C-5F146D6F36EB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3161769" y="19207595"/>
            <a:ext cx="9039225" cy="697230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25" name="Picture 24" descr="A screenshot of a computer&#10;&#10;AI-generated content may be incorrect.">
            <a:extLst>
              <a:ext uri="{FF2B5EF4-FFF2-40B4-BE49-F238E27FC236}">
                <a16:creationId xmlns:a16="http://schemas.microsoft.com/office/drawing/2014/main" id="{7D5CB94D-969D-155A-3A8B-A5D3548CADE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3176057" y="26214098"/>
            <a:ext cx="9010650" cy="6924675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p:pic>
        <p:nvPicPr>
          <p:cNvPr id="26" name="Picture 25" descr="A screenshot of a computer&#10;&#10;AI-generated content may be incorrect.">
            <a:extLst>
              <a:ext uri="{FF2B5EF4-FFF2-40B4-BE49-F238E27FC236}">
                <a16:creationId xmlns:a16="http://schemas.microsoft.com/office/drawing/2014/main" id="{09A76E02-3508-307B-D0F9-9049A6757ED3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3161769" y="33182503"/>
            <a:ext cx="9039225" cy="6953250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  <mc:AlternateContent xmlns:mc="http://schemas.openxmlformats.org/markup-compatibility/2006">
        <mc:Choice xmlns:p14="http://schemas.microsoft.com/office/powerpoint/2010/main" Requires="p14">
          <p:contentPart p14:bwMode="auto" r:id="rId11">
            <p14:nvContentPartPr>
              <p14:cNvPr id="29" name="Ink 28">
                <a:extLst>
                  <a:ext uri="{FF2B5EF4-FFF2-40B4-BE49-F238E27FC236}">
                    <a16:creationId xmlns:a16="http://schemas.microsoft.com/office/drawing/2014/main" id="{707EEC85-9A9D-9739-2548-38FC589C39B5}"/>
                  </a:ext>
                </a:extLst>
              </p14:cNvPr>
              <p14:cNvContentPartPr/>
              <p14:nvPr/>
            </p14:nvContentPartPr>
            <p14:xfrm>
              <a:off x="11870655" y="13894833"/>
              <a:ext cx="28875" cy="28875"/>
            </p14:xfrm>
          </p:contentPart>
        </mc:Choice>
        <mc:Fallback>
          <p:pic>
            <p:nvPicPr>
              <p:cNvPr id="29" name="Ink 28">
                <a:extLst>
                  <a:ext uri="{FF2B5EF4-FFF2-40B4-BE49-F238E27FC236}">
                    <a16:creationId xmlns:a16="http://schemas.microsoft.com/office/drawing/2014/main" id="{707EEC85-9A9D-9739-2548-38FC589C39B5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426905" y="12451083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3">
            <p14:nvContentPartPr>
              <p14:cNvPr id="30" name="Ink 29">
                <a:extLst>
                  <a:ext uri="{FF2B5EF4-FFF2-40B4-BE49-F238E27FC236}">
                    <a16:creationId xmlns:a16="http://schemas.microsoft.com/office/drawing/2014/main" id="{1EED52F7-EE76-99F3-D6D9-AAA9D4784A9A}"/>
                  </a:ext>
                </a:extLst>
              </p14:cNvPr>
              <p14:cNvContentPartPr/>
              <p14:nvPr/>
            </p14:nvContentPartPr>
            <p14:xfrm>
              <a:off x="4722668" y="28506084"/>
              <a:ext cx="28875" cy="28875"/>
            </p14:xfrm>
          </p:contentPart>
        </mc:Choice>
        <mc:Fallback>
          <p:pic>
            <p:nvPicPr>
              <p:cNvPr id="30" name="Ink 29">
                <a:extLst>
                  <a:ext uri="{FF2B5EF4-FFF2-40B4-BE49-F238E27FC236}">
                    <a16:creationId xmlns:a16="http://schemas.microsoft.com/office/drawing/2014/main" id="{1EED52F7-EE76-99F3-D6D9-AAA9D4784A9A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307793" y="28458921"/>
                <a:ext cx="2887500" cy="12416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5">
            <p14:nvContentPartPr>
              <p14:cNvPr id="31" name="Ink 30">
                <a:extLst>
                  <a:ext uri="{FF2B5EF4-FFF2-40B4-BE49-F238E27FC236}">
                    <a16:creationId xmlns:a16="http://schemas.microsoft.com/office/drawing/2014/main" id="{2B71DDA1-0909-B6E1-6BC4-BA5E0753E0A8}"/>
                  </a:ext>
                </a:extLst>
              </p14:cNvPr>
              <p14:cNvContentPartPr/>
              <p14:nvPr/>
            </p14:nvContentPartPr>
            <p14:xfrm>
              <a:off x="5300184" y="18199950"/>
              <a:ext cx="28875" cy="28875"/>
            </p14:xfrm>
          </p:contentPart>
        </mc:Choice>
        <mc:Fallback>
          <p:pic>
            <p:nvPicPr>
              <p:cNvPr id="31" name="Ink 30">
                <a:extLst>
                  <a:ext uri="{FF2B5EF4-FFF2-40B4-BE49-F238E27FC236}">
                    <a16:creationId xmlns:a16="http://schemas.microsoft.com/office/drawing/2014/main" id="{2B71DDA1-0909-B6E1-6BC4-BA5E0753E0A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56434" y="16756200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32" name="Ink 31">
                <a:extLst>
                  <a:ext uri="{FF2B5EF4-FFF2-40B4-BE49-F238E27FC236}">
                    <a16:creationId xmlns:a16="http://schemas.microsoft.com/office/drawing/2014/main" id="{E6FA5D55-10FC-8BD7-5ED7-BAA6F91BDC46}"/>
                  </a:ext>
                </a:extLst>
              </p14:cNvPr>
              <p14:cNvContentPartPr/>
              <p14:nvPr/>
            </p14:nvContentPartPr>
            <p14:xfrm>
              <a:off x="4460161" y="17622434"/>
              <a:ext cx="28875" cy="28875"/>
            </p14:xfrm>
          </p:contentPart>
        </mc:Choice>
        <mc:Fallback>
          <p:pic>
            <p:nvPicPr>
              <p:cNvPr id="32" name="Ink 31">
                <a:extLst>
                  <a:ext uri="{FF2B5EF4-FFF2-40B4-BE49-F238E27FC236}">
                    <a16:creationId xmlns:a16="http://schemas.microsoft.com/office/drawing/2014/main" id="{E6FA5D55-10FC-8BD7-5ED7-BAA6F91BDC4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016411" y="16178684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7">
            <p14:nvContentPartPr>
              <p14:cNvPr id="33" name="Ink 32">
                <a:extLst>
                  <a:ext uri="{FF2B5EF4-FFF2-40B4-BE49-F238E27FC236}">
                    <a16:creationId xmlns:a16="http://schemas.microsoft.com/office/drawing/2014/main" id="{1F08B8F9-055E-7FDE-30CC-A8A51AC2FF67}"/>
                  </a:ext>
                </a:extLst>
              </p14:cNvPr>
              <p14:cNvContentPartPr/>
              <p14:nvPr/>
            </p14:nvContentPartPr>
            <p14:xfrm>
              <a:off x="18556797" y="20195004"/>
              <a:ext cx="28875" cy="28875"/>
            </p14:xfrm>
          </p:contentPart>
        </mc:Choice>
        <mc:Fallback>
          <p:pic>
            <p:nvPicPr>
              <p:cNvPr id="33" name="Ink 32">
                <a:extLst>
                  <a:ext uri="{FF2B5EF4-FFF2-40B4-BE49-F238E27FC236}">
                    <a16:creationId xmlns:a16="http://schemas.microsoft.com/office/drawing/2014/main" id="{1F08B8F9-055E-7FDE-30CC-A8A51AC2FF67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7141922" y="18751254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34" name="Ink 33">
                <a:extLst>
                  <a:ext uri="{FF2B5EF4-FFF2-40B4-BE49-F238E27FC236}">
                    <a16:creationId xmlns:a16="http://schemas.microsoft.com/office/drawing/2014/main" id="{F7B44D35-C25D-D670-BE52-A81A9A0098FF}"/>
                  </a:ext>
                </a:extLst>
              </p14:cNvPr>
              <p14:cNvContentPartPr/>
              <p14:nvPr/>
            </p14:nvContentPartPr>
            <p14:xfrm>
              <a:off x="18031782" y="7017144"/>
              <a:ext cx="28875" cy="28875"/>
            </p14:xfrm>
          </p:contentPart>
        </mc:Choice>
        <mc:Fallback>
          <p:pic>
            <p:nvPicPr>
              <p:cNvPr id="34" name="Ink 33">
                <a:extLst>
                  <a:ext uri="{FF2B5EF4-FFF2-40B4-BE49-F238E27FC236}">
                    <a16:creationId xmlns:a16="http://schemas.microsoft.com/office/drawing/2014/main" id="{F7B44D35-C25D-D670-BE52-A81A9A0098F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6616907" y="5602269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9">
            <p14:nvContentPartPr>
              <p14:cNvPr id="35" name="Ink 34">
                <a:extLst>
                  <a:ext uri="{FF2B5EF4-FFF2-40B4-BE49-F238E27FC236}">
                    <a16:creationId xmlns:a16="http://schemas.microsoft.com/office/drawing/2014/main" id="{B0853497-C7C3-5E0F-AD2A-A5761E940B21}"/>
                  </a:ext>
                </a:extLst>
              </p14:cNvPr>
              <p14:cNvContentPartPr/>
              <p14:nvPr/>
            </p14:nvContentPartPr>
            <p14:xfrm>
              <a:off x="17165508" y="8224677"/>
              <a:ext cx="28875" cy="28875"/>
            </p14:xfrm>
          </p:contentPart>
        </mc:Choice>
        <mc:Fallback>
          <p:pic>
            <p:nvPicPr>
              <p:cNvPr id="35" name="Ink 34">
                <a:extLst>
                  <a:ext uri="{FF2B5EF4-FFF2-40B4-BE49-F238E27FC236}">
                    <a16:creationId xmlns:a16="http://schemas.microsoft.com/office/drawing/2014/main" id="{B0853497-C7C3-5E0F-AD2A-A5761E940B21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721758" y="6809802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36" name="Ink 35">
                <a:extLst>
                  <a:ext uri="{FF2B5EF4-FFF2-40B4-BE49-F238E27FC236}">
                    <a16:creationId xmlns:a16="http://schemas.microsoft.com/office/drawing/2014/main" id="{3128C7C6-D20B-806C-5186-C33A4E8D64D3}"/>
                  </a:ext>
                </a:extLst>
              </p14:cNvPr>
              <p14:cNvContentPartPr/>
              <p14:nvPr/>
            </p14:nvContentPartPr>
            <p14:xfrm>
              <a:off x="17165508" y="8224677"/>
              <a:ext cx="28875" cy="28875"/>
            </p14:xfrm>
          </p:contentPart>
        </mc:Choice>
        <mc:Fallback>
          <p:pic>
            <p:nvPicPr>
              <p:cNvPr id="36" name="Ink 35">
                <a:extLst>
                  <a:ext uri="{FF2B5EF4-FFF2-40B4-BE49-F238E27FC236}">
                    <a16:creationId xmlns:a16="http://schemas.microsoft.com/office/drawing/2014/main" id="{3128C7C6-D20B-806C-5186-C33A4E8D64D3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5721758" y="6809802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1">
            <p14:nvContentPartPr>
              <p14:cNvPr id="37" name="Ink 36">
                <a:extLst>
                  <a:ext uri="{FF2B5EF4-FFF2-40B4-BE49-F238E27FC236}">
                    <a16:creationId xmlns:a16="http://schemas.microsoft.com/office/drawing/2014/main" id="{03456C8D-A5FE-6ACC-2EFF-2F79A28BD2C9}"/>
                  </a:ext>
                </a:extLst>
              </p14:cNvPr>
              <p14:cNvContentPartPr/>
              <p14:nvPr/>
            </p14:nvContentPartPr>
            <p14:xfrm>
              <a:off x="11469103" y="7935919"/>
              <a:ext cx="28875" cy="28875"/>
            </p14:xfrm>
          </p:contentPart>
        </mc:Choice>
        <mc:Fallback>
          <p:pic>
            <p:nvPicPr>
              <p:cNvPr id="37" name="Ink 36">
                <a:extLst>
                  <a:ext uri="{FF2B5EF4-FFF2-40B4-BE49-F238E27FC236}">
                    <a16:creationId xmlns:a16="http://schemas.microsoft.com/office/drawing/2014/main" id="{03456C8D-A5FE-6ACC-2EFF-2F79A28BD2C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0054228" y="6492169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38" name="Ink 37">
                <a:extLst>
                  <a:ext uri="{FF2B5EF4-FFF2-40B4-BE49-F238E27FC236}">
                    <a16:creationId xmlns:a16="http://schemas.microsoft.com/office/drawing/2014/main" id="{E480C17A-4A5A-E93A-DCE3-088197535D5A}"/>
                  </a:ext>
                </a:extLst>
              </p14:cNvPr>
              <p14:cNvContentPartPr/>
              <p14:nvPr/>
            </p14:nvContentPartPr>
            <p14:xfrm>
              <a:off x="5300184" y="7043395"/>
              <a:ext cx="28875" cy="28875"/>
            </p14:xfrm>
          </p:contentPart>
        </mc:Choice>
        <mc:Fallback>
          <p:pic>
            <p:nvPicPr>
              <p:cNvPr id="38" name="Ink 37">
                <a:extLst>
                  <a:ext uri="{FF2B5EF4-FFF2-40B4-BE49-F238E27FC236}">
                    <a16:creationId xmlns:a16="http://schemas.microsoft.com/office/drawing/2014/main" id="{E480C17A-4A5A-E93A-DCE3-088197535D5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56434" y="5628520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3">
            <p14:nvContentPartPr>
              <p14:cNvPr id="39" name="Ink 38">
                <a:extLst>
                  <a:ext uri="{FF2B5EF4-FFF2-40B4-BE49-F238E27FC236}">
                    <a16:creationId xmlns:a16="http://schemas.microsoft.com/office/drawing/2014/main" id="{0AC7968B-EFCE-56D3-A4E4-F005778EBDE9}"/>
                  </a:ext>
                </a:extLst>
              </p14:cNvPr>
              <p14:cNvContentPartPr/>
              <p14:nvPr/>
            </p14:nvContentPartPr>
            <p14:xfrm>
              <a:off x="5300184" y="7043395"/>
              <a:ext cx="28875" cy="28875"/>
            </p14:xfrm>
          </p:contentPart>
        </mc:Choice>
        <mc:Fallback>
          <p:pic>
            <p:nvPicPr>
              <p:cNvPr id="39" name="Ink 38">
                <a:extLst>
                  <a:ext uri="{FF2B5EF4-FFF2-40B4-BE49-F238E27FC236}">
                    <a16:creationId xmlns:a16="http://schemas.microsoft.com/office/drawing/2014/main" id="{0AC7968B-EFCE-56D3-A4E4-F005778EBDE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856434" y="5628520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40" name="Ink 39">
                <a:extLst>
                  <a:ext uri="{FF2B5EF4-FFF2-40B4-BE49-F238E27FC236}">
                    <a16:creationId xmlns:a16="http://schemas.microsoft.com/office/drawing/2014/main" id="{62543F27-B5F2-2E0F-92AD-D95E7D489AEF}"/>
                  </a:ext>
                </a:extLst>
              </p14:cNvPr>
              <p14:cNvContentPartPr/>
              <p14:nvPr/>
            </p14:nvContentPartPr>
            <p14:xfrm>
              <a:off x="2123847" y="5730859"/>
              <a:ext cx="28875" cy="28875"/>
            </p14:xfrm>
          </p:contentPart>
        </mc:Choice>
        <mc:Fallback>
          <p:pic>
            <p:nvPicPr>
              <p:cNvPr id="40" name="Ink 39">
                <a:extLst>
                  <a:ext uri="{FF2B5EF4-FFF2-40B4-BE49-F238E27FC236}">
                    <a16:creationId xmlns:a16="http://schemas.microsoft.com/office/drawing/2014/main" id="{62543F27-B5F2-2E0F-92AD-D95E7D489AE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08972" y="4315984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5">
            <p14:nvContentPartPr>
              <p14:cNvPr id="41" name="Ink 40">
                <a:extLst>
                  <a:ext uri="{FF2B5EF4-FFF2-40B4-BE49-F238E27FC236}">
                    <a16:creationId xmlns:a16="http://schemas.microsoft.com/office/drawing/2014/main" id="{5DB2A062-6D81-AA29-D350-A1C6F99588C2}"/>
                  </a:ext>
                </a:extLst>
              </p14:cNvPr>
              <p14:cNvContentPartPr/>
              <p14:nvPr/>
            </p14:nvContentPartPr>
            <p14:xfrm>
              <a:off x="5431437" y="4339570"/>
              <a:ext cx="28875" cy="28875"/>
            </p14:xfrm>
          </p:contentPart>
        </mc:Choice>
        <mc:Fallback>
          <p:pic>
            <p:nvPicPr>
              <p:cNvPr id="41" name="Ink 40">
                <a:extLst>
                  <a:ext uri="{FF2B5EF4-FFF2-40B4-BE49-F238E27FC236}">
                    <a16:creationId xmlns:a16="http://schemas.microsoft.com/office/drawing/2014/main" id="{5DB2A062-6D81-AA29-D350-A1C6F99588C2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987687" y="2895820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42" name="Ink 41">
                <a:extLst>
                  <a:ext uri="{FF2B5EF4-FFF2-40B4-BE49-F238E27FC236}">
                    <a16:creationId xmlns:a16="http://schemas.microsoft.com/office/drawing/2014/main" id="{9DE05D1A-39D6-8105-5DEC-4D9C86B10428}"/>
                  </a:ext>
                </a:extLst>
              </p14:cNvPr>
              <p14:cNvContentPartPr/>
              <p14:nvPr/>
            </p14:nvContentPartPr>
            <p14:xfrm>
              <a:off x="5809612" y="18514959"/>
              <a:ext cx="28875" cy="28875"/>
            </p14:xfrm>
          </p:contentPart>
        </mc:Choice>
        <mc:Fallback>
          <p:pic>
            <p:nvPicPr>
              <p:cNvPr id="42" name="Ink 41">
                <a:extLst>
                  <a:ext uri="{FF2B5EF4-FFF2-40B4-BE49-F238E27FC236}">
                    <a16:creationId xmlns:a16="http://schemas.microsoft.com/office/drawing/2014/main" id="{9DE05D1A-39D6-8105-5DEC-4D9C86B10428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4365862" y="17100084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7">
            <p14:nvContentPartPr>
              <p14:cNvPr id="43" name="Ink 42">
                <a:extLst>
                  <a:ext uri="{FF2B5EF4-FFF2-40B4-BE49-F238E27FC236}">
                    <a16:creationId xmlns:a16="http://schemas.microsoft.com/office/drawing/2014/main" id="{2AC3EFC9-C625-3D91-6B4B-39559D89F04F}"/>
                  </a:ext>
                </a:extLst>
              </p14:cNvPr>
              <p14:cNvContentPartPr/>
              <p14:nvPr/>
            </p14:nvContentPartPr>
            <p14:xfrm>
              <a:off x="9852222" y="7437155"/>
              <a:ext cx="28875" cy="28875"/>
            </p14:xfrm>
          </p:contentPart>
        </mc:Choice>
        <mc:Fallback>
          <p:pic>
            <p:nvPicPr>
              <p:cNvPr id="43" name="Ink 42">
                <a:extLst>
                  <a:ext uri="{FF2B5EF4-FFF2-40B4-BE49-F238E27FC236}">
                    <a16:creationId xmlns:a16="http://schemas.microsoft.com/office/drawing/2014/main" id="{2AC3EFC9-C625-3D91-6B4B-39559D89F04F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8408472" y="5993405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8">
            <p14:nvContentPartPr>
              <p14:cNvPr id="44" name="Ink 43">
                <a:extLst>
                  <a:ext uri="{FF2B5EF4-FFF2-40B4-BE49-F238E27FC236}">
                    <a16:creationId xmlns:a16="http://schemas.microsoft.com/office/drawing/2014/main" id="{B6B52B3B-46EA-2055-BE11-3E397277387A}"/>
                  </a:ext>
                </a:extLst>
              </p14:cNvPr>
              <p14:cNvContentPartPr/>
              <p14:nvPr/>
            </p14:nvContentPartPr>
            <p14:xfrm>
              <a:off x="26521427" y="10350985"/>
              <a:ext cx="28875" cy="28875"/>
            </p14:xfrm>
          </p:contentPart>
        </mc:Choice>
        <mc:Fallback>
          <p:pic>
            <p:nvPicPr>
              <p:cNvPr id="44" name="Ink 43">
                <a:extLst>
                  <a:ext uri="{FF2B5EF4-FFF2-40B4-BE49-F238E27FC236}">
                    <a16:creationId xmlns:a16="http://schemas.microsoft.com/office/drawing/2014/main" id="{B6B52B3B-46EA-2055-BE11-3E397277387A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5077677" y="8907235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9">
            <p14:nvContentPartPr>
              <p14:cNvPr id="45" name="Ink 44">
                <a:extLst>
                  <a:ext uri="{FF2B5EF4-FFF2-40B4-BE49-F238E27FC236}">
                    <a16:creationId xmlns:a16="http://schemas.microsoft.com/office/drawing/2014/main" id="{5C5FD1DE-678F-FB13-D3A5-A22DE255654B}"/>
                  </a:ext>
                </a:extLst>
              </p14:cNvPr>
              <p14:cNvContentPartPr/>
              <p14:nvPr/>
            </p14:nvContentPartPr>
            <p14:xfrm>
              <a:off x="25235140" y="7489657"/>
              <a:ext cx="28875" cy="28875"/>
            </p14:xfrm>
          </p:contentPart>
        </mc:Choice>
        <mc:Fallback>
          <p:pic>
            <p:nvPicPr>
              <p:cNvPr id="45" name="Ink 44">
                <a:extLst>
                  <a:ext uri="{FF2B5EF4-FFF2-40B4-BE49-F238E27FC236}">
                    <a16:creationId xmlns:a16="http://schemas.microsoft.com/office/drawing/2014/main" id="{5C5FD1DE-678F-FB13-D3A5-A22DE255654B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3820265" y="6074782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0">
            <p14:nvContentPartPr>
              <p14:cNvPr id="46" name="Ink 45">
                <a:extLst>
                  <a:ext uri="{FF2B5EF4-FFF2-40B4-BE49-F238E27FC236}">
                    <a16:creationId xmlns:a16="http://schemas.microsoft.com/office/drawing/2014/main" id="{65DC1E86-CD6D-C05D-6418-35AB78B30B0E}"/>
                  </a:ext>
                </a:extLst>
              </p14:cNvPr>
              <p14:cNvContentPartPr/>
              <p14:nvPr/>
            </p14:nvContentPartPr>
            <p14:xfrm>
              <a:off x="18646213" y="11747727"/>
              <a:ext cx="28875" cy="28875"/>
            </p14:xfrm>
          </p:contentPart>
        </mc:Choice>
        <mc:Fallback>
          <p:pic>
            <p:nvPicPr>
              <p:cNvPr id="46" name="Ink 45">
                <a:extLst>
                  <a:ext uri="{FF2B5EF4-FFF2-40B4-BE49-F238E27FC236}">
                    <a16:creationId xmlns:a16="http://schemas.microsoft.com/office/drawing/2014/main" id="{65DC1E86-CD6D-C05D-6418-35AB78B30B0E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17202463" y="11723257"/>
                <a:ext cx="2887500" cy="7732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2">
            <p14:nvContentPartPr>
              <p14:cNvPr id="47" name="Ink 46">
                <a:extLst>
                  <a:ext uri="{FF2B5EF4-FFF2-40B4-BE49-F238E27FC236}">
                    <a16:creationId xmlns:a16="http://schemas.microsoft.com/office/drawing/2014/main" id="{1430DBAF-3383-C230-6994-9B8FF5C58CFC}"/>
                  </a:ext>
                </a:extLst>
              </p14:cNvPr>
              <p14:cNvContentPartPr/>
              <p14:nvPr/>
            </p14:nvContentPartPr>
            <p14:xfrm>
              <a:off x="14566953" y="9668467"/>
              <a:ext cx="28875" cy="28875"/>
            </p14:xfrm>
          </p:contentPart>
        </mc:Choice>
        <mc:Fallback>
          <p:pic>
            <p:nvPicPr>
              <p:cNvPr id="47" name="Ink 46">
                <a:extLst>
                  <a:ext uri="{FF2B5EF4-FFF2-40B4-BE49-F238E27FC236}">
                    <a16:creationId xmlns:a16="http://schemas.microsoft.com/office/drawing/2014/main" id="{1430DBAF-3383-C230-6994-9B8FF5C58CFC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14518828" y="8253592"/>
                <a:ext cx="124163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4">
            <p14:nvContentPartPr>
              <p14:cNvPr id="48" name="Ink 47">
                <a:extLst>
                  <a:ext uri="{FF2B5EF4-FFF2-40B4-BE49-F238E27FC236}">
                    <a16:creationId xmlns:a16="http://schemas.microsoft.com/office/drawing/2014/main" id="{A61714FE-D909-0F12-8E4D-1149C51098DC}"/>
                  </a:ext>
                </a:extLst>
              </p14:cNvPr>
              <p14:cNvContentPartPr/>
              <p14:nvPr/>
            </p14:nvContentPartPr>
            <p14:xfrm>
              <a:off x="4155816" y="6912141"/>
              <a:ext cx="28875" cy="28875"/>
            </p14:xfrm>
          </p:contentPart>
        </mc:Choice>
        <mc:Fallback>
          <p:pic>
            <p:nvPicPr>
              <p:cNvPr id="48" name="Ink 47">
                <a:extLst>
                  <a:ext uri="{FF2B5EF4-FFF2-40B4-BE49-F238E27FC236}">
                    <a16:creationId xmlns:a16="http://schemas.microsoft.com/office/drawing/2014/main" id="{A61714FE-D909-0F12-8E4D-1149C51098DC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740941" y="5468391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5">
            <p14:nvContentPartPr>
              <p14:cNvPr id="49" name="Ink 48">
                <a:extLst>
                  <a:ext uri="{FF2B5EF4-FFF2-40B4-BE49-F238E27FC236}">
                    <a16:creationId xmlns:a16="http://schemas.microsoft.com/office/drawing/2014/main" id="{AC83014B-7E9C-4413-15D6-6ABF6AD8CC30}"/>
                  </a:ext>
                </a:extLst>
              </p14:cNvPr>
              <p14:cNvContentPartPr/>
              <p14:nvPr/>
            </p14:nvContentPartPr>
            <p14:xfrm>
              <a:off x="3315793" y="5179594"/>
              <a:ext cx="28875" cy="28875"/>
            </p14:xfrm>
          </p:contentPart>
        </mc:Choice>
        <mc:Fallback>
          <p:pic>
            <p:nvPicPr>
              <p:cNvPr id="49" name="Ink 48">
                <a:extLst>
                  <a:ext uri="{FF2B5EF4-FFF2-40B4-BE49-F238E27FC236}">
                    <a16:creationId xmlns:a16="http://schemas.microsoft.com/office/drawing/2014/main" id="{AC83014B-7E9C-4413-15D6-6ABF6AD8CC30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872043" y="3764719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6">
            <p14:nvContentPartPr>
              <p14:cNvPr id="50" name="Ink 49">
                <a:extLst>
                  <a:ext uri="{FF2B5EF4-FFF2-40B4-BE49-F238E27FC236}">
                    <a16:creationId xmlns:a16="http://schemas.microsoft.com/office/drawing/2014/main" id="{62D3E449-3E44-3CAB-88AE-D76DFCC63AC6}"/>
                  </a:ext>
                </a:extLst>
              </p14:cNvPr>
              <p14:cNvContentPartPr/>
              <p14:nvPr/>
            </p14:nvContentPartPr>
            <p14:xfrm>
              <a:off x="16309898" y="7673412"/>
              <a:ext cx="28875" cy="28875"/>
            </p14:xfrm>
          </p:contentPart>
        </mc:Choice>
        <mc:Fallback>
          <p:pic>
            <p:nvPicPr>
              <p:cNvPr id="50" name="Ink 49">
                <a:extLst>
                  <a:ext uri="{FF2B5EF4-FFF2-40B4-BE49-F238E27FC236}">
                    <a16:creationId xmlns:a16="http://schemas.microsoft.com/office/drawing/2014/main" id="{62D3E449-3E44-3CAB-88AE-D76DFCC63AC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14866148" y="6258537"/>
                <a:ext cx="2887500" cy="28875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37">
            <p14:nvContentPartPr>
              <p14:cNvPr id="52" name="Ink 51">
                <a:extLst>
                  <a:ext uri="{FF2B5EF4-FFF2-40B4-BE49-F238E27FC236}">
                    <a16:creationId xmlns:a16="http://schemas.microsoft.com/office/drawing/2014/main" id="{0F6DE25C-2A15-E3EB-D76F-304A69CBBEA4}"/>
                  </a:ext>
                </a:extLst>
              </p14:cNvPr>
              <p14:cNvContentPartPr/>
              <p14:nvPr/>
            </p14:nvContentPartPr>
            <p14:xfrm>
              <a:off x="21890636" y="38859265"/>
              <a:ext cx="28875" cy="28875"/>
            </p14:xfrm>
          </p:contentPart>
        </mc:Choice>
        <mc:Fallback>
          <p:pic>
            <p:nvPicPr>
              <p:cNvPr id="52" name="Ink 51">
                <a:extLst>
                  <a:ext uri="{FF2B5EF4-FFF2-40B4-BE49-F238E27FC236}">
                    <a16:creationId xmlns:a16="http://schemas.microsoft.com/office/drawing/2014/main" id="{0F6DE25C-2A15-E3EB-D76F-304A69CBBEA4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20475761" y="37415515"/>
                <a:ext cx="2887500" cy="2887500"/>
              </a:xfrm>
              <a:prstGeom prst="rect">
                <a:avLst/>
              </a:prstGeom>
            </p:spPr>
          </p:pic>
        </mc:Fallback>
      </mc:AlternateContent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3920117A-DC0B-05C1-6D59-D2663C0A1416}"/>
              </a:ext>
            </a:extLst>
          </p:cNvPr>
          <p:cNvCxnSpPr/>
          <p:nvPr/>
        </p:nvCxnSpPr>
        <p:spPr>
          <a:xfrm>
            <a:off x="-95815" y="13307144"/>
            <a:ext cx="23316543" cy="109597"/>
          </a:xfrm>
          <a:prstGeom prst="straightConnector1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3B49F53D-7341-4DFC-DA46-9A8F223F5B03}"/>
              </a:ext>
            </a:extLst>
          </p:cNvPr>
          <p:cNvCxnSpPr/>
          <p:nvPr/>
        </p:nvCxnSpPr>
        <p:spPr>
          <a:xfrm>
            <a:off x="-62345" y="25468446"/>
            <a:ext cx="23067161" cy="27563"/>
          </a:xfrm>
          <a:prstGeom prst="straightConnector1">
            <a:avLst/>
          </a:prstGeom>
          <a:ln w="57150">
            <a:solidFill>
              <a:srgbClr val="7030A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6" name="Picture 55" descr="A blue and white anvil&#10;&#10;AI-generated content may be incorrect.">
            <a:extLst>
              <a:ext uri="{FF2B5EF4-FFF2-40B4-BE49-F238E27FC236}">
                <a16:creationId xmlns:a16="http://schemas.microsoft.com/office/drawing/2014/main" id="{E38B8BB2-B53E-737D-7B18-1858A9349A8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828834" y="40240526"/>
            <a:ext cx="2438400" cy="2438400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57" name="Picture 56" descr="A diagram of a diagram&#10;&#10;AI-generated content may be incorrect.">
            <a:extLst>
              <a:ext uri="{FF2B5EF4-FFF2-40B4-BE49-F238E27FC236}">
                <a16:creationId xmlns:a16="http://schemas.microsoft.com/office/drawing/2014/main" id="{2E57A705-08E1-712B-AE1D-509FBC4DF2DE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17458025" y="13541952"/>
            <a:ext cx="5670837" cy="11570276"/>
          </a:xfrm>
          <a:prstGeom prst="rect">
            <a:avLst/>
          </a:prstGeom>
          <a:solidFill>
            <a:srgbClr val="000000">
              <a:shade val="95000"/>
            </a:srgbClr>
          </a:solidFill>
          <a:ln w="444500" cap="sq">
            <a:solidFill>
              <a:srgbClr val="000000"/>
            </a:solidFill>
            <a:miter lim="800000"/>
          </a:ln>
          <a:effectLst>
            <a:outerShdw blurRad="254000" dist="190500" dir="2700000" sy="90000" algn="bl" rotWithShape="0">
              <a:srgbClr val="000000">
                <a:alpha val="40000"/>
              </a:srgbClr>
            </a:outerShdw>
          </a:effec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DashVTI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DashVTI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DashVTI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E0E31462-65AE-4087-9B94-B3347EE711B2}" vid="{CA8B31CB-369F-4872-A917-A9EAAF91827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Custom</PresentationFormat>
  <Paragraphs>0</Paragraphs>
  <Slides>1</Slides>
  <Notes>1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DashVTI</vt:lpstr>
      <vt:lpstr>PowerPoint Presentation</vt:lpstr>
    </vt:vector>
  </TitlesOfParts>
  <Company>OpenAI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Forge Technology Showcase Poster</dc:title>
  <dc:subject>Forge Technology Capstone Showcase Poster</dc:subject>
  <dc:creator>OpenAI</dc:creator>
  <cp:lastModifiedBy>OpenAI</cp:lastModifiedBy>
  <cp:revision>417</cp:revision>
  <dcterms:created xsi:type="dcterms:W3CDTF">2026-06-06T20:17:14Z</dcterms:created>
  <dcterms:modified xsi:type="dcterms:W3CDTF">2026-06-07T14:32:12Z</dcterms:modified>
</cp:coreProperties>
</file>